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351215" y="0"/>
            <a:ext cx="3840480" cy="6858000"/>
          </a:xfrm>
          <a:prstGeom prst="rect">
            <a:avLst/>
          </a:prstGeom>
          <a:solidFill>
            <a:srgbClr val="1E4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14056" y="0"/>
            <a:ext cx="164592" cy="6858000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E8A317"/>
                </a:solidFill>
                <a:latin typeface="Calibri"/>
              </a:rPr>
              <a:t>GUIDELEARN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7498079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GuideLearn – AI Learning Coach</a:t>
            </a:r>
          </a:p>
          <a:p>
            <a:pPr algn="l">
              <a:spcBef>
                <a:spcPts val="800"/>
              </a:spcBef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เพื่อความเท่าเทียมทางการศึกษา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977639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C9D8EC"/>
                </a:solidFill>
                <a:latin typeface="Calibri"/>
              </a:rPr>
              <a:t>ยกระดับการเรียนรู้เด็กไทยด้วย AI และ AIS Ecosystem</a:t>
            </a:r>
          </a:p>
          <a:p>
            <a:pPr algn="l">
              <a:spcBef>
                <a:spcPts val="1000"/>
              </a:spcBef>
              <a:spcAft>
                <a:spcPts val="0"/>
              </a:spcAft>
            </a:pPr>
            <a:r>
              <a:rPr sz="1600" b="1">
                <a:solidFill>
                  <a:srgbClr val="E8A317"/>
                </a:solidFill>
                <a:latin typeface="Calibri"/>
              </a:rPr>
              <a:t>JUMP THAILAND 2026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45575" y="2468880"/>
            <a:ext cx="2651760" cy="1828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E4F9E"/>
                </a:solidFill>
                <a:latin typeface="Calibri"/>
              </a:rPr>
              <a:t>Pitch Deck</a:t>
            </a:r>
          </a:p>
          <a:p>
            <a:pPr algn="ctr">
              <a:spcBef>
                <a:spcPts val="800"/>
              </a:spcBef>
              <a:spcAft>
                <a:spcPts val="0"/>
              </a:spcAft>
            </a:pPr>
            <a:r>
              <a:rPr sz="2800" b="1">
                <a:solidFill>
                  <a:srgbClr val="0B2A4A"/>
                </a:solidFill>
                <a:latin typeface="Calibri"/>
              </a:rPr>
              <a:t>10 Slides</a:t>
            </a:r>
          </a:p>
          <a:p>
            <a:pPr algn="ctr">
              <a:spcBef>
                <a:spcPts val="600"/>
              </a:spcBef>
              <a:spcAft>
                <a:spcPts val="0"/>
              </a:spcAft>
            </a:pPr>
            <a:r>
              <a:rPr sz="1300" b="0">
                <a:solidFill>
                  <a:srgbClr val="64748B"/>
                </a:solidFill>
                <a:latin typeface="Calibri"/>
              </a:rPr>
              <a:t>Prototype Ready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08076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8AA0BC"/>
                </a:solidFill>
                <a:latin typeface="Calibri"/>
              </a:rPr>
              <a:t>Editable PowerPoint  ·  Competition Submission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20040"/>
            <a:ext cx="2377440" cy="329184"/>
          </a:xfrm>
          <a:prstGeom prst="roundRect">
            <a:avLst>
              <a:gd name="adj" fmla="val 12000"/>
            </a:avLst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E4F9E"/>
                </a:solidFill>
                <a:latin typeface="Calibri"/>
              </a:rPr>
              <a:t>01 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0B2A4A"/>
                </a:solidFill>
                <a:latin typeface="Calibri"/>
              </a:rPr>
              <a:t>ปัญหาและความจำเป็น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71600"/>
            <a:ext cx="1051560" cy="73152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554480"/>
            <a:ext cx="11155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Calibri"/>
              </a:rPr>
              <a:t>ช่องว่างทางการศึกษาที่ต้องเร่งแก้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9496" y="2194560"/>
            <a:ext cx="5394960" cy="3566160"/>
          </a:xfrm>
          <a:prstGeom prst="roundRect">
            <a:avLst>
              <a:gd name="adj" fmla="val 12000"/>
            </a:avLst>
          </a:prstGeom>
          <a:solidFill>
            <a:srgbClr val="D5D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" y="2148840"/>
            <a:ext cx="5394960" cy="3566160"/>
          </a:xfrm>
          <a:prstGeom prst="roundRect">
            <a:avLst>
              <a:gd name="adj" fmla="val 12000"/>
            </a:avLst>
          </a:prstGeom>
          <a:solidFill>
            <a:srgbClr val="FFE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300216" y="2194560"/>
            <a:ext cx="5394960" cy="3566160"/>
          </a:xfrm>
          <a:prstGeom prst="roundRect">
            <a:avLst>
              <a:gd name="adj" fmla="val 12000"/>
            </a:avLst>
          </a:prstGeom>
          <a:solidFill>
            <a:srgbClr val="D5D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63640" y="2148840"/>
            <a:ext cx="5394960" cy="3566160"/>
          </a:xfrm>
          <a:prstGeom prst="roundRect">
            <a:avLst>
              <a:gd name="adj" fmla="val 12000"/>
            </a:avLst>
          </a:prstGeom>
          <a:solidFill>
            <a:srgbClr val="FFF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3774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0B2A4A"/>
                </a:solidFill>
                <a:latin typeface="Calibri"/>
              </a:rPr>
              <a:t>ช่องว่างทางการศึกษา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926080"/>
            <a:ext cx="4846320" cy="2377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334155"/>
                </a:solidFill>
                <a:latin typeface="Calibri"/>
              </a:rPr>
              <a:t>เด็กขาดแคลนเข้าไม่ถึงการติวเตอร์และสื่อการเรียนที่มีคุณภาพ</a:t>
            </a:r>
          </a:p>
          <a:p>
            <a:pPr algn="l">
              <a:spcBef>
                <a:spcPts val="1400"/>
              </a:spcBef>
              <a:spcAft>
                <a:spcPts val="0"/>
              </a:spcAft>
            </a:pPr>
            <a:r>
              <a:rPr sz="1500" b="0">
                <a:solidFill>
                  <a:srgbClr val="64748B"/>
                </a:solidFill>
                <a:latin typeface="Calibri"/>
              </a:rPr>
              <a:t>โอกาสเรียนรู้ยังกระจุกตัวในเมืองและครอบครัวที่มีกำลังซื้อ ทำให้เด็กในพื้นที่ห่างไกลเสียโอกาสแข่งขันตั้งแต่ต้นทาง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23774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0B2A4A"/>
                </a:solidFill>
                <a:latin typeface="Calibri"/>
              </a:rPr>
              <a:t>ข้อจำกัดเชิงโครงสร้าง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926080"/>
            <a:ext cx="4846320" cy="2377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334155"/>
                </a:solidFill>
                <a:latin typeface="Calibri"/>
              </a:rPr>
              <a:t>งบประมาณน้อย</a:t>
            </a:r>
          </a:p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1500" b="0">
                <a:solidFill>
                  <a:srgbClr val="64748B"/>
                </a:solidFill>
                <a:latin typeface="Calibri"/>
              </a:rPr>
              <a:t>ค่าติวและสื่อคุณภาพสูงยังเป็นภาระหนักของครัวเรือน</a:t>
            </a:r>
          </a:p>
          <a:p>
            <a:pPr algn="l">
              <a:spcBef>
                <a:spcPts val="1600"/>
              </a:spcBef>
              <a:spcAft>
                <a:spcPts val="0"/>
              </a:spcAft>
            </a:pPr>
            <a:r>
              <a:rPr sz="1800" b="1">
                <a:solidFill>
                  <a:srgbClr val="334155"/>
                </a:solidFill>
                <a:latin typeface="Calibri"/>
              </a:rPr>
              <a:t>ปัญหาอินเทอร์เน็ตในพื้นที่ห่างไกล</a:t>
            </a:r>
          </a:p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1500" b="0">
                <a:solidFill>
                  <a:srgbClr val="64748B"/>
                </a:solidFill>
                <a:latin typeface="Calibri"/>
              </a:rPr>
              <a:t>เน็ตช้า/ไม่เสถียรทำให้แพลตฟอร์มทั่วไปใช้งานไม่ได้จริงในบริบทโรงเรียนชายขอบ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6510528"/>
            <a:ext cx="7315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B8C7DC"/>
                </a:solidFill>
                <a:latin typeface="Calibri"/>
              </a:rPr>
              <a:t>GuideLearn  ·  JUMP THAILAND 2026  ·  AIS Ecosystem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11535" y="6510528"/>
            <a:ext cx="914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02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20040"/>
            <a:ext cx="2377440" cy="329184"/>
          </a:xfrm>
          <a:prstGeom prst="roundRect">
            <a:avLst>
              <a:gd name="adj" fmla="val 12000"/>
            </a:avLst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E4F9E"/>
                </a:solidFill>
                <a:latin typeface="Calibri"/>
              </a:rPr>
              <a:t>02 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0B2A4A"/>
                </a:solidFill>
                <a:latin typeface="Calibri"/>
              </a:rPr>
              <a:t>ทางออก (Solution)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71600"/>
            <a:ext cx="1051560" cy="73152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554480"/>
            <a:ext cx="11155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Calibri"/>
              </a:rPr>
              <a:t>AI Learning Coach ที่เข้าถึงได้จริง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9496" y="2194560"/>
            <a:ext cx="11155680" cy="1783080"/>
          </a:xfrm>
          <a:prstGeom prst="roundRect">
            <a:avLst>
              <a:gd name="adj" fmla="val 12000"/>
            </a:avLst>
          </a:prstGeom>
          <a:solidFill>
            <a:srgbClr val="D5D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" y="2148840"/>
            <a:ext cx="11155680" cy="1783080"/>
          </a:xfrm>
          <a:prstGeom prst="roundRect">
            <a:avLst>
              <a:gd name="adj" fmla="val 12000"/>
            </a:avLst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2148840"/>
            <a:ext cx="146304" cy="1783080"/>
          </a:xfrm>
          <a:prstGeom prst="rect">
            <a:avLst/>
          </a:prstGeom>
          <a:solidFill>
            <a:srgbClr val="1E4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468880"/>
            <a:ext cx="10332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0B2A4A"/>
                </a:solidFill>
                <a:latin typeface="Calibri"/>
              </a:rPr>
              <a:t>AI Personal Tutor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971800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334155"/>
                </a:solidFill>
                <a:latin typeface="Calibri"/>
              </a:rPr>
              <a:t>ช่วยอธิบายโจทย์ทีละ Step ผ่านภาพถ่ายและเสียง เน้นแนะแนวคิดแบบโซเครติก ไม่เฉลยทันที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9496" y="4160520"/>
            <a:ext cx="11155680" cy="1783080"/>
          </a:xfrm>
          <a:prstGeom prst="roundRect">
            <a:avLst>
              <a:gd name="adj" fmla="val 12000"/>
            </a:avLst>
          </a:prstGeom>
          <a:solidFill>
            <a:srgbClr val="D5D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02920" y="4114800"/>
            <a:ext cx="11155680" cy="1783080"/>
          </a:xfrm>
          <a:prstGeom prst="roundRect">
            <a:avLst>
              <a:gd name="adj" fmla="val 12000"/>
            </a:avLst>
          </a:prstGeom>
          <a:solidFill>
            <a:srgbClr val="E6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4114800"/>
            <a:ext cx="146304" cy="1783080"/>
          </a:xfrm>
          <a:prstGeom prst="rect">
            <a:avLst/>
          </a:prstGeom>
          <a:solidFill>
            <a:srgbClr val="0D8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434840"/>
            <a:ext cx="10332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0B2A4A"/>
                </a:solidFill>
                <a:latin typeface="Calibri"/>
              </a:rPr>
              <a:t>Accessible for All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937760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334155"/>
                </a:solidFill>
                <a:latin typeface="Calibri"/>
              </a:rPr>
              <a:t>รองรับโหมดเน็ตช้า (Low-bandwidth) และออกแบบเพื่อความเท่าเทียม—ใช้ได้ทั้งมือถือและพื้นที่ห่างไกล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6510528"/>
            <a:ext cx="7315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B8C7DC"/>
                </a:solidFill>
                <a:latin typeface="Calibri"/>
              </a:rPr>
              <a:t>GuideLearn  ·  JUMP THAILAND 2026  ·  AIS Ecosystem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11535" y="6510528"/>
            <a:ext cx="914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03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20040"/>
            <a:ext cx="2377440" cy="329184"/>
          </a:xfrm>
          <a:prstGeom prst="roundRect">
            <a:avLst>
              <a:gd name="adj" fmla="val 12000"/>
            </a:avLst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E4F9E"/>
                </a:solidFill>
                <a:latin typeface="Calibri"/>
              </a:rPr>
              <a:t>03  KEY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0B2A4A"/>
                </a:solidFill>
                <a:latin typeface="Calibri"/>
              </a:rPr>
              <a:t>ฟีเจอร์หลัก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71600"/>
            <a:ext cx="1051560" cy="73152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554480"/>
            <a:ext cx="11155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Calibri"/>
              </a:rPr>
              <a:t>เครื่องมือครบวงจรสำหรับนักเรียนและครู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9496" y="2240280"/>
            <a:ext cx="3566160" cy="3520440"/>
          </a:xfrm>
          <a:prstGeom prst="roundRect">
            <a:avLst>
              <a:gd name="adj" fmla="val 12000"/>
            </a:avLst>
          </a:prstGeom>
          <a:solidFill>
            <a:srgbClr val="D5D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" y="2194560"/>
            <a:ext cx="3566160" cy="3520440"/>
          </a:xfrm>
          <a:prstGeom prst="roundRect">
            <a:avLst>
              <a:gd name="adj" fmla="val 12000"/>
            </a:avLst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46888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E4F9E"/>
                </a:solidFill>
                <a:latin typeface="Calibr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108960"/>
            <a:ext cx="29260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0B2A4A"/>
                </a:solidFill>
                <a:latin typeface="Calibri"/>
              </a:rPr>
              <a:t>Snap &amp; Learn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886200"/>
            <a:ext cx="292608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334155"/>
                </a:solidFill>
                <a:latin typeface="Calibri"/>
              </a:rPr>
              <a:t>ถ่ายรูปโจทย์ แล้วให้ AI ช่วยแนะแนวคิดทีละขั้นตอน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34256" y="2240280"/>
            <a:ext cx="3566160" cy="3520440"/>
          </a:xfrm>
          <a:prstGeom prst="roundRect">
            <a:avLst>
              <a:gd name="adj" fmla="val 12000"/>
            </a:avLst>
          </a:prstGeom>
          <a:solidFill>
            <a:srgbClr val="D5D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297680" y="2194560"/>
            <a:ext cx="3566160" cy="3520440"/>
          </a:xfrm>
          <a:prstGeom prst="roundRect">
            <a:avLst>
              <a:gd name="adj" fmla="val 12000"/>
            </a:avLst>
          </a:prstGeom>
          <a:solidFill>
            <a:srgbClr val="E6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17720" y="246888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E4F9E"/>
                </a:solidFill>
                <a:latin typeface="Calibr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3108960"/>
            <a:ext cx="29260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0B2A4A"/>
                </a:solidFill>
                <a:latin typeface="Calibri"/>
              </a:rPr>
              <a:t>Voice Interactive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3886200"/>
            <a:ext cx="292608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334155"/>
                </a:solidFill>
                <a:latin typeface="Calibri"/>
              </a:rPr>
              <a:t>สั่งการและฟังคำอธิบายด้วยเสียง รองรับการเข้าถึง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29016" y="2240280"/>
            <a:ext cx="3566160" cy="3520440"/>
          </a:xfrm>
          <a:prstGeom prst="roundRect">
            <a:avLst>
              <a:gd name="adj" fmla="val 12000"/>
            </a:avLst>
          </a:prstGeom>
          <a:solidFill>
            <a:srgbClr val="D5D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092440" y="2194560"/>
            <a:ext cx="3566160" cy="3520440"/>
          </a:xfrm>
          <a:prstGeom prst="roundRect">
            <a:avLst>
              <a:gd name="adj" fmla="val 12000"/>
            </a:avLst>
          </a:prstGeom>
          <a:solidFill>
            <a:srgbClr val="FFF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0" y="246888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E4F9E"/>
                </a:solidFill>
                <a:latin typeface="Calibri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3108960"/>
            <a:ext cx="29260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0B2A4A"/>
                </a:solidFill>
                <a:latin typeface="Calibri"/>
              </a:rPr>
              <a:t>Teacher Dashboard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3886200"/>
            <a:ext cx="292608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334155"/>
                </a:solidFill>
                <a:latin typeface="Calibri"/>
              </a:rPr>
              <a:t>ช่วยครูติดตามเด็กกลุ่มเสี่ยงเรียนไม่ทันแบบเรียลไทม์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6510528"/>
            <a:ext cx="7315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B8C7DC"/>
                </a:solidFill>
                <a:latin typeface="Calibri"/>
              </a:rPr>
              <a:t>GuideLearn  ·  JUMP THAILAND 2026  ·  AIS Ecosystem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11535" y="6510528"/>
            <a:ext cx="914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04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20040"/>
            <a:ext cx="2377440" cy="329184"/>
          </a:xfrm>
          <a:prstGeom prst="roundRect">
            <a:avLst>
              <a:gd name="adj" fmla="val 12000"/>
            </a:avLst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E4F9E"/>
                </a:solidFill>
                <a:latin typeface="Calibri"/>
              </a:rPr>
              <a:t>04  TECH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0B2A4A"/>
                </a:solidFill>
                <a:latin typeface="Calibri"/>
              </a:rPr>
              <a:t>สถาปัตยกรรมเทคโนโลยี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71600"/>
            <a:ext cx="1051560" cy="73152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554480"/>
            <a:ext cx="11155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Calibri"/>
              </a:rPr>
              <a:t>Stack ที่พร้อมสเกลและดูแลรักษา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9496" y="2286000"/>
            <a:ext cx="3611880" cy="3383280"/>
          </a:xfrm>
          <a:prstGeom prst="roundRect">
            <a:avLst>
              <a:gd name="adj" fmla="val 12000"/>
            </a:avLst>
          </a:prstGeom>
          <a:solidFill>
            <a:srgbClr val="D5D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" y="2240280"/>
            <a:ext cx="3611880" cy="3383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2240280"/>
            <a:ext cx="3611880" cy="128016"/>
          </a:xfrm>
          <a:prstGeom prst="rect">
            <a:avLst/>
          </a:prstGeom>
          <a:solidFill>
            <a:srgbClr val="1E4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606040"/>
            <a:ext cx="2971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0B2A4A"/>
                </a:solidFill>
                <a:latin typeface="Calibri"/>
              </a:rPr>
              <a:t>Frontend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200400"/>
            <a:ext cx="297180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334155"/>
                </a:solidFill>
                <a:latin typeface="Calibri"/>
              </a:rPr>
              <a:t>Next.js + TypeScript</a:t>
            </a:r>
          </a:p>
          <a:p>
            <a:pPr algn="l">
              <a:spcBef>
                <a:spcPts val="800"/>
              </a:spcBef>
              <a:spcAft>
                <a:spcPts val="0"/>
              </a:spcAft>
            </a:pPr>
            <a:r>
              <a:rPr sz="1500" b="0">
                <a:solidFill>
                  <a:srgbClr val="334155"/>
                </a:solidFill>
                <a:latin typeface="Calibri"/>
              </a:rPr>
              <a:t>Mobile-First UI ที่ใช้งานง่ายบนมือถือ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34256" y="2286000"/>
            <a:ext cx="3611880" cy="3383280"/>
          </a:xfrm>
          <a:prstGeom prst="roundRect">
            <a:avLst>
              <a:gd name="adj" fmla="val 12000"/>
            </a:avLst>
          </a:prstGeom>
          <a:solidFill>
            <a:srgbClr val="D5D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297680" y="2240280"/>
            <a:ext cx="3611880" cy="3383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97680" y="2240280"/>
            <a:ext cx="3611880" cy="128016"/>
          </a:xfrm>
          <a:prstGeom prst="rect">
            <a:avLst/>
          </a:prstGeom>
          <a:solidFill>
            <a:srgbClr val="0D8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17720" y="2606040"/>
            <a:ext cx="2971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0B2A4A"/>
                </a:solidFill>
                <a:latin typeface="Calibri"/>
              </a:rPr>
              <a:t>AI Engine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3200400"/>
            <a:ext cx="297180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334155"/>
                </a:solidFill>
                <a:latin typeface="Calibri"/>
              </a:rPr>
              <a:t>Vision Engine อ่านโจทย์จากภาพ</a:t>
            </a:r>
          </a:p>
          <a:p>
            <a:pPr algn="l">
              <a:spcBef>
                <a:spcPts val="800"/>
              </a:spcBef>
              <a:spcAft>
                <a:spcPts val="0"/>
              </a:spcAft>
            </a:pPr>
            <a:r>
              <a:rPr sz="1500" b="0">
                <a:solidFill>
                  <a:srgbClr val="334155"/>
                </a:solidFill>
                <a:latin typeface="Calibri"/>
              </a:rPr>
              <a:t>+ Speech API สั่งงาน/ฟังคำอธิบาย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29016" y="2286000"/>
            <a:ext cx="3611880" cy="3383280"/>
          </a:xfrm>
          <a:prstGeom prst="roundRect">
            <a:avLst>
              <a:gd name="adj" fmla="val 12000"/>
            </a:avLst>
          </a:prstGeom>
          <a:solidFill>
            <a:srgbClr val="D5D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092440" y="2240280"/>
            <a:ext cx="3611880" cy="3383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92440" y="2240280"/>
            <a:ext cx="3611880" cy="128016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0" y="2606040"/>
            <a:ext cx="2971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0B2A4A"/>
                </a:solidFill>
                <a:latin typeface="Calibri"/>
              </a:rPr>
              <a:t>Cloud Ready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3200400"/>
            <a:ext cx="297180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334155"/>
                </a:solidFill>
                <a:latin typeface="Calibri"/>
              </a:rPr>
              <a:t>Deploy บน Vercel / พร้อมเชื่อม</a:t>
            </a:r>
          </a:p>
          <a:p>
            <a:pPr algn="l">
              <a:spcBef>
                <a:spcPts val="800"/>
              </a:spcBef>
              <a:spcAft>
                <a:spcPts val="0"/>
              </a:spcAft>
            </a:pPr>
            <a:r>
              <a:rPr sz="1500" b="0">
                <a:solidFill>
                  <a:srgbClr val="334155"/>
                </a:solidFill>
                <a:latin typeface="Calibri"/>
              </a:rPr>
              <a:t>AIS Cloud ตามมาตรฐานความปลอดภัย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6510528"/>
            <a:ext cx="7315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B8C7DC"/>
                </a:solidFill>
                <a:latin typeface="Calibri"/>
              </a:rPr>
              <a:t>GuideLearn  ·  JUMP THAILAND 2026  ·  AIS Ecosystem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11535" y="6510528"/>
            <a:ext cx="914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05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20040"/>
            <a:ext cx="2377440" cy="329184"/>
          </a:xfrm>
          <a:prstGeom prst="roundRect">
            <a:avLst>
              <a:gd name="adj" fmla="val 12000"/>
            </a:avLst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E4F9E"/>
                </a:solidFill>
                <a:latin typeface="Calibri"/>
              </a:rPr>
              <a:t>05  AIS ECOSYSTEM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0B2A4A"/>
                </a:solidFill>
                <a:latin typeface="Calibri"/>
              </a:rPr>
              <a:t>การเชื่อมต่อ AIS Ecosystem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71600"/>
            <a:ext cx="1051560" cy="73152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554480"/>
            <a:ext cx="11155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Calibri"/>
              </a:rPr>
              <a:t>ต่อยอดโครงสร้างดิจิทัลของประเทศ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9496" y="2194560"/>
            <a:ext cx="11155680" cy="1097280"/>
          </a:xfrm>
          <a:prstGeom prst="roundRect">
            <a:avLst>
              <a:gd name="adj" fmla="val 12000"/>
            </a:avLst>
          </a:prstGeom>
          <a:solidFill>
            <a:srgbClr val="D5D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" y="2148840"/>
            <a:ext cx="11155680" cy="1097280"/>
          </a:xfrm>
          <a:prstGeom prst="roundRect">
            <a:avLst>
              <a:gd name="adj" fmla="val 12000"/>
            </a:avLst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468880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1E4F9E"/>
                </a:solidFill>
                <a:latin typeface="Calibr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2350008"/>
            <a:ext cx="9692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0B2A4A"/>
                </a:solidFill>
                <a:latin typeface="Calibri"/>
              </a:rPr>
              <a:t>AIS Cloud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715768"/>
            <a:ext cx="9692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334155"/>
                </a:solidFill>
                <a:latin typeface="Calibri"/>
              </a:rPr>
              <a:t>THAI Hyperscale Cloud ปลอดภัยสูง จัดเก็บข้อมูลตามมาตรฐาน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9496" y="3429000"/>
            <a:ext cx="11155680" cy="1097280"/>
          </a:xfrm>
          <a:prstGeom prst="roundRect">
            <a:avLst>
              <a:gd name="adj" fmla="val 12000"/>
            </a:avLst>
          </a:prstGeom>
          <a:solidFill>
            <a:srgbClr val="D5D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02920" y="3383280"/>
            <a:ext cx="11155680" cy="1097280"/>
          </a:xfrm>
          <a:prstGeom prst="roundRect">
            <a:avLst>
              <a:gd name="adj" fmla="val 12000"/>
            </a:avLst>
          </a:prstGeom>
          <a:solidFill>
            <a:srgbClr val="E6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703320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1E4F9E"/>
                </a:solidFill>
                <a:latin typeface="Calibr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584448"/>
            <a:ext cx="9692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0B2A4A"/>
                </a:solidFill>
                <a:latin typeface="Calibri"/>
              </a:rPr>
              <a:t>LearnDi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3950208"/>
            <a:ext cx="9692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334155"/>
                </a:solidFill>
                <a:latin typeface="Calibri"/>
              </a:rPr>
              <a:t>แนะนำคอร์สเรียนออนไลน์ต่อยอดทักษะอนาคตให้ผู้เรียน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39496" y="4663440"/>
            <a:ext cx="11155680" cy="1097280"/>
          </a:xfrm>
          <a:prstGeom prst="roundRect">
            <a:avLst>
              <a:gd name="adj" fmla="val 12000"/>
            </a:avLst>
          </a:prstGeom>
          <a:solidFill>
            <a:srgbClr val="D5D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02920" y="4617720"/>
            <a:ext cx="11155680" cy="1097280"/>
          </a:xfrm>
          <a:prstGeom prst="roundRect">
            <a:avLst>
              <a:gd name="adj" fmla="val 12000"/>
            </a:avLst>
          </a:prstGeom>
          <a:solidFill>
            <a:srgbClr val="FFF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4937760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1E4F9E"/>
                </a:solidFill>
                <a:latin typeface="Calibri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4818888"/>
            <a:ext cx="9692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0B2A4A"/>
                </a:solidFill>
                <a:latin typeface="Calibri"/>
              </a:rPr>
              <a:t>Competency Assessment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5184648"/>
            <a:ext cx="9692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334155"/>
                </a:solidFill>
                <a:latin typeface="Calibri"/>
              </a:rPr>
              <a:t>ระบบประเมินและค้นหาสมรรถนะผู้เรียน เพื่อวางแผนการเรียนรู้เฉพาะบุคคล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6510528"/>
            <a:ext cx="7315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B8C7DC"/>
                </a:solidFill>
                <a:latin typeface="Calibri"/>
              </a:rPr>
              <a:t>GuideLearn  ·  JUMP THAILAND 2026  ·  AIS Ecosystem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11535" y="6510528"/>
            <a:ext cx="914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06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20040"/>
            <a:ext cx="2377440" cy="329184"/>
          </a:xfrm>
          <a:prstGeom prst="roundRect">
            <a:avLst>
              <a:gd name="adj" fmla="val 12000"/>
            </a:avLst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E4F9E"/>
                </a:solidFill>
                <a:latin typeface="Calibri"/>
              </a:rPr>
              <a:t>06 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0B2A4A"/>
                </a:solidFill>
                <a:latin typeface="Calibri"/>
              </a:rPr>
              <a:t>ผลลัพธ์และผลกระทบ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71600"/>
            <a:ext cx="1051560" cy="73152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554480"/>
            <a:ext cx="11155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Calibri"/>
              </a:rPr>
              <a:t>จากต้นแบบสู่การเปลี่ยนโอกาสเรียนรู้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9496" y="2240280"/>
            <a:ext cx="5486400" cy="3474720"/>
          </a:xfrm>
          <a:prstGeom prst="roundRect">
            <a:avLst>
              <a:gd name="adj" fmla="val 12000"/>
            </a:avLst>
          </a:prstGeom>
          <a:solidFill>
            <a:srgbClr val="D5D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" y="2194560"/>
            <a:ext cx="5486400" cy="3474720"/>
          </a:xfrm>
          <a:prstGeom prst="roundRect">
            <a:avLst>
              <a:gd name="adj" fmla="val 12000"/>
            </a:avLst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54496" y="2240280"/>
            <a:ext cx="5486400" cy="3474720"/>
          </a:xfrm>
          <a:prstGeom prst="roundRect">
            <a:avLst>
              <a:gd name="adj" fmla="val 12000"/>
            </a:avLst>
          </a:prstGeom>
          <a:solidFill>
            <a:srgbClr val="D5D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17920" y="2194560"/>
            <a:ext cx="5486400" cy="3474720"/>
          </a:xfrm>
          <a:prstGeom prst="roundRect">
            <a:avLst>
              <a:gd name="adj" fmla="val 12000"/>
            </a:avLst>
          </a:prstGeom>
          <a:solidFill>
            <a:srgbClr val="E6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468880"/>
            <a:ext cx="4754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1E4F9E"/>
                </a:solidFill>
                <a:latin typeface="Calibri"/>
              </a:rPr>
              <a:t>ระยะสั้น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880360"/>
            <a:ext cx="4754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B2A4A"/>
                </a:solidFill>
                <a:latin typeface="Calibri"/>
              </a:rPr>
              <a:t>Web App Prototype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657600"/>
            <a:ext cx="475488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334155"/>
                </a:solidFill>
                <a:latin typeface="Calibri"/>
              </a:rPr>
              <a:t>ใช้งานได้จริงทันทีบนมือถือ รองรับติวการบ้านด้วยภาพ เสียง และโหมดเน็ตช้า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468880"/>
            <a:ext cx="4754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0D8A7A"/>
                </a:solidFill>
                <a:latin typeface="Calibri"/>
              </a:rPr>
              <a:t>ระยะยาว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2880360"/>
            <a:ext cx="4754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B2A4A"/>
                </a:solidFill>
                <a:latin typeface="Calibri"/>
              </a:rPr>
              <a:t>ลดความเหลื่อมล้ำ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3657600"/>
            <a:ext cx="475488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334155"/>
                </a:solidFill>
                <a:latin typeface="Calibri"/>
              </a:rPr>
              <a:t>ลดช่องว่างความเหลื่อมล้ำในการสอบเข้า</a:t>
            </a:r>
          </a:p>
          <a:p>
            <a:pPr algn="l">
              <a:spcBef>
                <a:spcPts val="1200"/>
              </a:spcBef>
              <a:spcAft>
                <a:spcPts val="0"/>
              </a:spcAft>
            </a:pPr>
            <a:r>
              <a:rPr sz="1600" b="0">
                <a:solidFill>
                  <a:srgbClr val="334155"/>
                </a:solidFill>
                <a:latin typeface="Calibri"/>
              </a:rPr>
              <a:t>ลดภาระงานครู ด้วยแดชบอร์ดติดตามกลุ่มเสี่ยงและสรุปความก้าวหน้า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6510528"/>
            <a:ext cx="7315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B8C7DC"/>
                </a:solidFill>
                <a:latin typeface="Calibri"/>
              </a:rPr>
              <a:t>GuideLearn  ·  JUMP THAILAND 2026  ·  AIS Ecosystem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11535" y="6510528"/>
            <a:ext cx="914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07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20040"/>
            <a:ext cx="2377440" cy="329184"/>
          </a:xfrm>
          <a:prstGeom prst="roundRect">
            <a:avLst>
              <a:gd name="adj" fmla="val 12000"/>
            </a:avLst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E4F9E"/>
                </a:solidFill>
                <a:latin typeface="Calibri"/>
              </a:rPr>
              <a:t>07  BUSINESS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0B2A4A"/>
                </a:solidFill>
                <a:latin typeface="Calibri"/>
              </a:rPr>
              <a:t>รูปแบบความยั่งยืน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71600"/>
            <a:ext cx="1051560" cy="73152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554480"/>
            <a:ext cx="11155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Calibri"/>
              </a:rPr>
              <a:t>สร้างรายได้โดยไม่ทิ้งเด็กขาดแคลน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9496" y="2286000"/>
            <a:ext cx="3611880" cy="3383280"/>
          </a:xfrm>
          <a:prstGeom prst="roundRect">
            <a:avLst>
              <a:gd name="adj" fmla="val 12000"/>
            </a:avLst>
          </a:prstGeom>
          <a:solidFill>
            <a:srgbClr val="D5D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" y="2240280"/>
            <a:ext cx="3611880" cy="3383280"/>
          </a:xfrm>
          <a:prstGeom prst="roundRect">
            <a:avLst>
              <a:gd name="adj" fmla="val 12000"/>
            </a:avLst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514600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1E4F9E"/>
                </a:solidFill>
                <a:latin typeface="Calibri"/>
              </a:rPr>
              <a:t>MODEL 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971800"/>
            <a:ext cx="30175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0B2A4A"/>
                </a:solidFill>
                <a:latin typeface="Calibri"/>
              </a:rPr>
              <a:t>Freemium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023360"/>
            <a:ext cx="30175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334155"/>
                </a:solidFill>
                <a:latin typeface="Calibri"/>
              </a:rPr>
              <a:t>เด็กขาดแคลนใช้งานฟีเจอร์พื้นฐานฟรี เพื่อเข้าถึงติวเตอร์ AI อย่างทั่วถึง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34256" y="2286000"/>
            <a:ext cx="3611880" cy="3383280"/>
          </a:xfrm>
          <a:prstGeom prst="roundRect">
            <a:avLst>
              <a:gd name="adj" fmla="val 12000"/>
            </a:avLst>
          </a:prstGeom>
          <a:solidFill>
            <a:srgbClr val="D5D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297680" y="2240280"/>
            <a:ext cx="3611880" cy="3383280"/>
          </a:xfrm>
          <a:prstGeom prst="roundRect">
            <a:avLst>
              <a:gd name="adj" fmla="val 12000"/>
            </a:avLst>
          </a:prstGeom>
          <a:solidFill>
            <a:srgbClr val="FFF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2514600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1E4F9E"/>
                </a:solidFill>
                <a:latin typeface="Calibri"/>
              </a:rPr>
              <a:t>MODEL 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971800"/>
            <a:ext cx="30175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0B2A4A"/>
                </a:solidFill>
                <a:latin typeface="Calibri"/>
              </a:rPr>
              <a:t>B2G / School Subscription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4023360"/>
            <a:ext cx="30175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334155"/>
                </a:solidFill>
                <a:latin typeface="Calibri"/>
              </a:rPr>
              <a:t>แพ็กเกจ Dashboard และสถิติลึกสำหรับโรงเรียน / สพฐ.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29016" y="2286000"/>
            <a:ext cx="3611880" cy="3383280"/>
          </a:xfrm>
          <a:prstGeom prst="roundRect">
            <a:avLst>
              <a:gd name="adj" fmla="val 12000"/>
            </a:avLst>
          </a:prstGeom>
          <a:solidFill>
            <a:srgbClr val="D5D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092440" y="2240280"/>
            <a:ext cx="3611880" cy="3383280"/>
          </a:xfrm>
          <a:prstGeom prst="roundRect">
            <a:avLst>
              <a:gd name="adj" fmla="val 12000"/>
            </a:avLst>
          </a:prstGeom>
          <a:solidFill>
            <a:srgbClr val="E6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66760" y="2514600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1E4F9E"/>
                </a:solidFill>
                <a:latin typeface="Calibri"/>
              </a:rPr>
              <a:t>MODEL 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60" y="2971800"/>
            <a:ext cx="30175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0B2A4A"/>
                </a:solidFill>
                <a:latin typeface="Calibri"/>
              </a:rPr>
              <a:t>Partnership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4023360"/>
            <a:ext cx="30175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334155"/>
                </a:solidFill>
                <a:latin typeface="Calibri"/>
              </a:rPr>
              <a:t>เชื่อมต่อคอร์สเรียนเชิงลึกกับคอร์สพันธมิตรและ LearnDi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6510528"/>
            <a:ext cx="7315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B8C7DC"/>
                </a:solidFill>
                <a:latin typeface="Calibri"/>
              </a:rPr>
              <a:t>GuideLearn  ·  JUMP THAILAND 2026  ·  AIS Ecosystem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11535" y="6510528"/>
            <a:ext cx="914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08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20040"/>
            <a:ext cx="2377440" cy="329184"/>
          </a:xfrm>
          <a:prstGeom prst="roundRect">
            <a:avLst>
              <a:gd name="adj" fmla="val 12000"/>
            </a:avLst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E4F9E"/>
                </a:solidFill>
                <a:latin typeface="Calibri"/>
              </a:rPr>
              <a:t>08  PARTNERSHIPS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0B2A4A"/>
                </a:solidFill>
                <a:latin typeface="Calibri"/>
              </a:rPr>
              <a:t>พันธมิตรความร่วมมือ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71600"/>
            <a:ext cx="1051560" cy="73152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554480"/>
            <a:ext cx="11155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Calibri"/>
              </a:rPr>
              <a:t>เครือข่ายที่ทำให้สเกลได้จริง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9496" y="2194560"/>
            <a:ext cx="11155680" cy="1097280"/>
          </a:xfrm>
          <a:prstGeom prst="roundRect">
            <a:avLst>
              <a:gd name="adj" fmla="val 12000"/>
            </a:avLst>
          </a:prstGeom>
          <a:solidFill>
            <a:srgbClr val="D5D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" y="2148840"/>
            <a:ext cx="11155680" cy="1097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2148840"/>
            <a:ext cx="146304" cy="1097280"/>
          </a:xfrm>
          <a:prstGeom prst="rect">
            <a:avLst/>
          </a:prstGeom>
          <a:solidFill>
            <a:srgbClr val="1E4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350008"/>
            <a:ext cx="10241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0B2A4A"/>
                </a:solidFill>
                <a:latin typeface="Calibri"/>
              </a:rPr>
              <a:t>ศธ. / สพฐ.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715768"/>
            <a:ext cx="10241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334155"/>
                </a:solidFill>
                <a:latin typeface="Calibri"/>
              </a:rPr>
              <a:t>ทดลองใช้งานในโรงเรียนนำร่อง และเชื่อมระบบติดตามผลผู้เรียน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9496" y="3429000"/>
            <a:ext cx="11155680" cy="1097280"/>
          </a:xfrm>
          <a:prstGeom prst="roundRect">
            <a:avLst>
              <a:gd name="adj" fmla="val 12000"/>
            </a:avLst>
          </a:prstGeom>
          <a:solidFill>
            <a:srgbClr val="D5D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02920" y="3383280"/>
            <a:ext cx="11155680" cy="1097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3383280"/>
            <a:ext cx="146304" cy="1097280"/>
          </a:xfrm>
          <a:prstGeom prst="rect">
            <a:avLst/>
          </a:prstGeom>
          <a:solidFill>
            <a:srgbClr val="0D8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584448"/>
            <a:ext cx="10241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0B2A4A"/>
                </a:solidFill>
                <a:latin typeface="Calibri"/>
              </a:rPr>
              <a:t>กสศ.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3950208"/>
            <a:ext cx="10241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334155"/>
                </a:solidFill>
                <a:latin typeface="Calibri"/>
              </a:rPr>
              <a:t>สนับสนุนเด็กทุนและโรงเรียนในพื้นที่ห่างไกล ให้เข้าถึงเครื่องมืออย่างทั่วถึง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39496" y="4663440"/>
            <a:ext cx="11155680" cy="1097280"/>
          </a:xfrm>
          <a:prstGeom prst="roundRect">
            <a:avLst>
              <a:gd name="adj" fmla="val 12000"/>
            </a:avLst>
          </a:prstGeom>
          <a:solidFill>
            <a:srgbClr val="D5D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02920" y="4617720"/>
            <a:ext cx="11155680" cy="1097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" y="4617720"/>
            <a:ext cx="146304" cy="1097280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4818888"/>
            <a:ext cx="10241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0B2A4A"/>
                </a:solidFill>
                <a:latin typeface="Calibri"/>
              </a:rPr>
              <a:t>AIS Academy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5184648"/>
            <a:ext cx="10241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334155"/>
                </a:solidFill>
                <a:latin typeface="Calibri"/>
              </a:rPr>
              <a:t>สนับสนุนโครงข่าย 5G และสื่อการเรียนรู้ดิจิทัลในระบบนิเวศ AIS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6510528"/>
            <a:ext cx="7315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B8C7DC"/>
                </a:solidFill>
                <a:latin typeface="Calibri"/>
              </a:rPr>
              <a:t>GuideLearn  ·  JUMP THAILAND 2026  ·  AIS Ecosystem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11535" y="6510528"/>
            <a:ext cx="914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09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E8A317"/>
                </a:solidFill>
                <a:latin typeface="Calibri"/>
              </a:rPr>
              <a:t>09  PROTOTYPE &amp; REFERENCES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058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ต้นแบบและลิงก์อ้างอิง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03120"/>
            <a:ext cx="5394960" cy="2377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33172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1E4F9E"/>
                </a:solidFill>
                <a:latin typeface="Calibri"/>
              </a:rPr>
              <a:t>LIVE DEMO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788920"/>
            <a:ext cx="4754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0B2A4A"/>
                </a:solidFill>
                <a:latin typeface="Calibri"/>
              </a:rPr>
              <a:t>Web App Prototype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383280"/>
            <a:ext cx="4754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1E4F9E"/>
                </a:solidFill>
                <a:latin typeface="Calibri"/>
              </a:rPr>
              <a:t>guide-learn-zeta.vercel.app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2103120"/>
            <a:ext cx="5394960" cy="2377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233172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0D8A7A"/>
                </a:solidFill>
                <a:latin typeface="Calibri"/>
              </a:rPr>
              <a:t>SOURCE CODE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788920"/>
            <a:ext cx="4754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0B2A4A"/>
                </a:solidFill>
                <a:latin typeface="Calibri"/>
              </a:rPr>
              <a:t>GitHub Repository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3383280"/>
            <a:ext cx="4754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1E4F9E"/>
                </a:solidFill>
                <a:latin typeface="Calibri"/>
              </a:rPr>
              <a:t>github.com/cashchrys4762/GuideLearn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846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C9D8EC"/>
                </a:solidFill>
                <a:latin typeface="Calibri"/>
              </a:rPr>
              <a:t>สแกน/เปิดลิงก์เพื่อทดลอง Live Demo ได้ทันทีบนมือถือ</a:t>
            </a:r>
          </a:p>
          <a:p>
            <a:pPr algn="l">
              <a:spcBef>
                <a:spcPts val="1000"/>
              </a:spcBef>
              <a:spcAft>
                <a:spcPts val="0"/>
              </a:spcAft>
            </a:pPr>
            <a:r>
              <a:rPr sz="1300" b="0">
                <a:solidFill>
                  <a:srgbClr val="E8A317"/>
                </a:solidFill>
                <a:latin typeface="Calibri"/>
              </a:rPr>
              <a:t>GuideLearn  ·  AI Learning Coach for Educational Equity  ·  JUMP THAILAND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